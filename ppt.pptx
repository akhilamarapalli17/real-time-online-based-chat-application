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9" r:id="rId11"/>
    <p:sldId id="264" r:id="rId12"/>
    <p:sldId id="265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57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75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1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3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72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04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36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0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03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7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775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14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46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809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84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587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1596C0A-5E93-4B05-A5F1-B24342B2E524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824C4AB-9755-4A9C-A2F3-61A26C94F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23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87BD-1FC2-437D-7362-D826A0E4F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Real-Time Web Chat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3C9C1-A3B1-30C5-1424-3D58C616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Presented By:</a:t>
            </a:r>
          </a:p>
          <a:p>
            <a:r>
              <a:rPr lang="en-IN" b="1" dirty="0"/>
              <a:t>23951A6709 – </a:t>
            </a:r>
            <a:r>
              <a:rPr lang="en-IN" b="1" dirty="0" err="1"/>
              <a:t>M.Akhila</a:t>
            </a:r>
            <a:endParaRPr lang="en-IN" b="1" dirty="0"/>
          </a:p>
          <a:p>
            <a:r>
              <a:rPr lang="en-IN" b="1" dirty="0"/>
              <a:t>239516760 – </a:t>
            </a:r>
            <a:r>
              <a:rPr lang="en-IN" b="1" dirty="0" err="1"/>
              <a:t>M.Keerthana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6271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19BD-9337-3DB5-C149-5DEB0387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D6ABD-9D3D-11C2-3226-175E08334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today’s digital era, users expect </a:t>
            </a:r>
            <a:r>
              <a:rPr lang="en-US" b="1" dirty="0"/>
              <a:t>instant communication</a:t>
            </a:r>
            <a:r>
              <a:rPr lang="en-US" dirty="0"/>
              <a:t> — whether through messaging apps, customer support, or collaboration tools.</a:t>
            </a:r>
          </a:p>
          <a:p>
            <a:r>
              <a:rPr lang="en-US" dirty="0"/>
              <a:t>Traditional HTTP request–response models are </a:t>
            </a:r>
            <a:r>
              <a:rPr lang="en-US" b="1" dirty="0"/>
              <a:t>not suitable</a:t>
            </a:r>
            <a:r>
              <a:rPr lang="en-US" dirty="0"/>
              <a:t> for continuous data exchange.</a:t>
            </a:r>
          </a:p>
          <a:p>
            <a:r>
              <a:rPr lang="en-US" b="1" dirty="0" err="1"/>
              <a:t>WebSockets</a:t>
            </a:r>
            <a:r>
              <a:rPr lang="en-US" dirty="0"/>
              <a:t> allow </a:t>
            </a:r>
            <a:r>
              <a:rPr lang="en-US" b="1" dirty="0"/>
              <a:t>real-time, full-duplex communication</a:t>
            </a:r>
            <a:r>
              <a:rPr lang="en-US" dirty="0"/>
              <a:t>, eliminating the need for constant polling.</a:t>
            </a:r>
          </a:p>
          <a:p>
            <a:r>
              <a:rPr lang="en-US" dirty="0"/>
              <a:t>This project showcases how </a:t>
            </a:r>
            <a:r>
              <a:rPr lang="en-US" dirty="0" err="1"/>
              <a:t>WebSockets</a:t>
            </a:r>
            <a:r>
              <a:rPr lang="en-US" dirty="0"/>
              <a:t> can be integrated with </a:t>
            </a:r>
            <a:r>
              <a:rPr lang="en-US" b="1" dirty="0"/>
              <a:t>Spring Boot and React</a:t>
            </a:r>
            <a:r>
              <a:rPr lang="en-US" dirty="0"/>
              <a:t> for a seamless chat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49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887E-1B63-1F0F-F977-6A47069E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DE4BF8-BEA5-2332-CA10-E5B0A161B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483234"/>
              </p:ext>
            </p:extLst>
          </p:nvPr>
        </p:nvGraphicFramePr>
        <p:xfrm>
          <a:off x="664028" y="2524664"/>
          <a:ext cx="10515600" cy="381590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356040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526426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6436083"/>
                    </a:ext>
                  </a:extLst>
                </a:gridCol>
              </a:tblGrid>
              <a:tr h="461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 / Tool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72039"/>
                  </a:ext>
                </a:extLst>
              </a:tr>
              <a:tr h="461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React.js, HTML, CSS,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970660"/>
                  </a:ext>
                </a:extLst>
              </a:tr>
              <a:tr h="461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 (Java)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message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305534"/>
                  </a:ext>
                </a:extLst>
              </a:tr>
              <a:tr h="461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WebSocket, STOMP, SockJS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Live message transmission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08667"/>
                  </a:ext>
                </a:extLst>
              </a:tr>
              <a:tr h="806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Maven, npm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Dependency and build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090714"/>
                  </a:ext>
                </a:extLst>
              </a:tr>
              <a:tr h="806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/ 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Message storage (future enhancement)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1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51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0F17-C9D0-E8F7-57EE-EB8C5330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DC189-9067-D810-773C-DDFEE9F26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Traditional chat systems using HTTP polling or AJAX repeatedly request updates from the server.</a:t>
            </a:r>
            <a:br>
              <a:rPr lang="en-US" dirty="0"/>
            </a:br>
            <a:r>
              <a:rPr lang="en-US" dirty="0"/>
              <a:t>This results in:</a:t>
            </a:r>
          </a:p>
          <a:p>
            <a:r>
              <a:rPr lang="en-US" dirty="0"/>
              <a:t>High network usage.</a:t>
            </a:r>
          </a:p>
          <a:p>
            <a:r>
              <a:rPr lang="en-US" dirty="0"/>
              <a:t>Delayed message updates.</a:t>
            </a:r>
          </a:p>
          <a:p>
            <a:r>
              <a:rPr lang="en-US" dirty="0"/>
              <a:t>Poor scalability when multiple users are active.</a:t>
            </a:r>
          </a:p>
          <a:p>
            <a:r>
              <a:rPr lang="en-US" b="1" dirty="0"/>
              <a:t>Proposed Solution:</a:t>
            </a:r>
            <a:br>
              <a:rPr lang="en-US" dirty="0"/>
            </a:br>
            <a:r>
              <a:rPr lang="en-US" dirty="0"/>
              <a:t>Implement </a:t>
            </a:r>
            <a:r>
              <a:rPr lang="en-US" b="1" dirty="0"/>
              <a:t>WebSocket-based communication</a:t>
            </a:r>
            <a:r>
              <a:rPr lang="en-US" dirty="0"/>
              <a:t> to:</a:t>
            </a:r>
          </a:p>
          <a:p>
            <a:r>
              <a:rPr lang="en-US" dirty="0"/>
              <a:t>Maintain a continuous, open connection.</a:t>
            </a:r>
          </a:p>
          <a:p>
            <a:r>
              <a:rPr lang="en-US" dirty="0"/>
              <a:t>Push new messages instantly from server to clients.</a:t>
            </a:r>
          </a:p>
          <a:p>
            <a:r>
              <a:rPr lang="en-US" dirty="0"/>
              <a:t>Provide a real-time, synchronized user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10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8E651-EC48-FE1C-93D2-A910261D3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31B08-BF71-5F8B-32C7-57BB68D5A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Architecture Flow:</a:t>
            </a:r>
            <a:endParaRPr lang="en-US" dirty="0"/>
          </a:p>
          <a:p>
            <a:r>
              <a:rPr lang="en-US" b="1" dirty="0"/>
              <a:t>Frontend (React):</a:t>
            </a:r>
            <a:endParaRPr lang="en-US" dirty="0"/>
          </a:p>
          <a:p>
            <a:pPr lvl="1"/>
            <a:r>
              <a:rPr lang="en-US" dirty="0"/>
              <a:t>Captures user input and displays chat messages.</a:t>
            </a:r>
          </a:p>
          <a:p>
            <a:pPr lvl="1"/>
            <a:r>
              <a:rPr lang="en-US" dirty="0"/>
              <a:t>Establishes WebSocket connection to the backend.</a:t>
            </a:r>
          </a:p>
          <a:p>
            <a:r>
              <a:rPr lang="en-US" b="1" dirty="0"/>
              <a:t>Backend (Spring Boot):</a:t>
            </a:r>
            <a:endParaRPr lang="en-US" dirty="0"/>
          </a:p>
          <a:p>
            <a:pPr lvl="1"/>
            <a:r>
              <a:rPr lang="en-US" dirty="0"/>
              <a:t>Listens for incoming messages via WebSocket.</a:t>
            </a:r>
          </a:p>
          <a:p>
            <a:pPr lvl="1"/>
            <a:r>
              <a:rPr lang="en-US" dirty="0"/>
              <a:t>Broadcasts the received messages to all connected clients.</a:t>
            </a:r>
          </a:p>
          <a:p>
            <a:r>
              <a:rPr lang="en-US" b="1" dirty="0"/>
              <a:t>STOMP Protocol:</a:t>
            </a:r>
            <a:endParaRPr lang="en-US" dirty="0"/>
          </a:p>
          <a:p>
            <a:pPr lvl="1"/>
            <a:r>
              <a:rPr lang="en-US" dirty="0"/>
              <a:t>Defines message destinations (/app and /topic).</a:t>
            </a:r>
          </a:p>
          <a:p>
            <a:pPr lvl="1"/>
            <a:r>
              <a:rPr lang="en-US" dirty="0"/>
              <a:t>Ensures structured, reliable communication.</a:t>
            </a:r>
          </a:p>
          <a:p>
            <a:r>
              <a:rPr lang="en-US" b="1" dirty="0" err="1"/>
              <a:t>SockJS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Provides fallback options for browsers not supporting native </a:t>
            </a:r>
            <a:r>
              <a:rPr lang="en-US" dirty="0" err="1"/>
              <a:t>WebSockets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b="1" dirty="0"/>
              <a:t>Result:</a:t>
            </a:r>
            <a:r>
              <a:rPr lang="en-US" dirty="0"/>
              <a:t> A continuous, two-way communication channel between all users and the server.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44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6299-B5BD-9C08-C2EC-3B9F994D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F0D39-73D7-5628-436B-543E190C0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Frontend (React.js):</a:t>
            </a:r>
          </a:p>
          <a:p>
            <a:r>
              <a:rPr lang="en-US" dirty="0"/>
              <a:t>Simple chat interface with input and message display.</a:t>
            </a:r>
          </a:p>
          <a:p>
            <a:r>
              <a:rPr lang="en-US" dirty="0"/>
              <a:t>Connects to the backend using </a:t>
            </a:r>
            <a:r>
              <a:rPr lang="en-US" b="1" dirty="0" err="1"/>
              <a:t>SockJS</a:t>
            </a:r>
            <a:r>
              <a:rPr lang="en-US" dirty="0"/>
              <a:t> and </a:t>
            </a:r>
            <a:r>
              <a:rPr lang="en-US" b="1" dirty="0"/>
              <a:t>STOMP client</a:t>
            </a:r>
            <a:r>
              <a:rPr lang="en-US" dirty="0"/>
              <a:t>.</a:t>
            </a:r>
          </a:p>
          <a:p>
            <a:r>
              <a:rPr lang="en-US" dirty="0"/>
              <a:t>Automatically updates messages in real time.</a:t>
            </a:r>
          </a:p>
          <a:p>
            <a:r>
              <a:rPr lang="en-US" b="1" dirty="0"/>
              <a:t>Backend (Spring Boot):</a:t>
            </a:r>
          </a:p>
          <a:p>
            <a:r>
              <a:rPr lang="en-US" dirty="0"/>
              <a:t>Handles WebSocket connections using @EnableWebSocketMessageBroker.</a:t>
            </a:r>
          </a:p>
          <a:p>
            <a:r>
              <a:rPr lang="en-US" dirty="0"/>
              <a:t>Listens to messages from /app/message and broadcasts to /topic/messages.</a:t>
            </a:r>
          </a:p>
          <a:p>
            <a:r>
              <a:rPr lang="en-US" dirty="0"/>
              <a:t>Manages user sessions efficiently.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22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E943-F1C7-B14E-B562-A14C6041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Interface &amp;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4A6E-0768-53AA-5EED-6634964D1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Interface Features:</a:t>
            </a:r>
            <a:endParaRPr lang="en-US" dirty="0"/>
          </a:p>
          <a:p>
            <a:r>
              <a:rPr lang="en-US" dirty="0"/>
              <a:t>Clean chat window.</a:t>
            </a:r>
          </a:p>
          <a:p>
            <a:r>
              <a:rPr lang="en-US" dirty="0"/>
              <a:t>Live message updates without page refresh.</a:t>
            </a:r>
          </a:p>
          <a:p>
            <a:r>
              <a:rPr lang="en-US" dirty="0"/>
              <a:t>Instant broadcast between multiple browser clients.</a:t>
            </a:r>
          </a:p>
          <a:p>
            <a:r>
              <a:rPr lang="en-US" b="1" dirty="0"/>
              <a:t>Demonstration Flow:</a:t>
            </a:r>
            <a:endParaRPr lang="en-US" dirty="0"/>
          </a:p>
          <a:p>
            <a:r>
              <a:rPr lang="en-US" dirty="0"/>
              <a:t>User A and User B open the chat in two browsers.</a:t>
            </a:r>
          </a:p>
          <a:p>
            <a:r>
              <a:rPr lang="en-US" dirty="0"/>
              <a:t>User A sends a message.</a:t>
            </a:r>
          </a:p>
          <a:p>
            <a:r>
              <a:rPr lang="en-US" dirty="0"/>
              <a:t>Message instantly appears in both chat windows.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06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A39B-CD6B-6CBF-ABA2-5F87FC5DA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EAAC8-2DE1-E804-B4A6-51A28F424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041" y="5179422"/>
            <a:ext cx="8825658" cy="87886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Welcome page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2EE3A-4C19-EFDC-140A-B9E518074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5" y="635219"/>
            <a:ext cx="8825658" cy="437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8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0A18-D6C0-2D1B-F60C-39AE574C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4C35E-C254-0CB0-EE90-54E72FD1E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Real-time messaging between multiple users.</a:t>
            </a:r>
            <a:br>
              <a:rPr lang="en-IN" dirty="0"/>
            </a:br>
            <a:r>
              <a:rPr lang="en-IN" dirty="0"/>
              <a:t>✅ Lightweight and responsive user interface.</a:t>
            </a:r>
            <a:br>
              <a:rPr lang="en-IN" dirty="0"/>
            </a:br>
            <a:r>
              <a:rPr lang="en-IN" dirty="0"/>
              <a:t>✅ Fully asynchronous communication.</a:t>
            </a:r>
            <a:br>
              <a:rPr lang="en-IN" dirty="0"/>
            </a:br>
            <a:r>
              <a:rPr lang="en-IN" dirty="0"/>
              <a:t>✅ Scalable backend design using WebSocket brokers.</a:t>
            </a:r>
            <a:br>
              <a:rPr lang="en-IN" dirty="0"/>
            </a:br>
            <a:r>
              <a:rPr lang="en-IN" dirty="0"/>
              <a:t>✅ Built with open-source technologies.</a:t>
            </a:r>
            <a:br>
              <a:rPr lang="en-IN" dirty="0"/>
            </a:br>
            <a:r>
              <a:rPr lang="en-IN" dirty="0"/>
              <a:t>✅ Simple deployment on any Java-based server.</a:t>
            </a:r>
          </a:p>
          <a:p>
            <a:r>
              <a:rPr lang="en-IN" b="1" dirty="0"/>
              <a:t>User Benefits:</a:t>
            </a:r>
            <a:endParaRPr lang="en-IN" dirty="0"/>
          </a:p>
          <a:p>
            <a:r>
              <a:rPr lang="en-IN" dirty="0"/>
              <a:t>Instant communication.</a:t>
            </a:r>
          </a:p>
          <a:p>
            <a:r>
              <a:rPr lang="en-IN" dirty="0"/>
              <a:t>No need to reload or refresh pages.</a:t>
            </a:r>
          </a:p>
          <a:p>
            <a:r>
              <a:rPr lang="en-IN" dirty="0"/>
              <a:t>Efficient performance for large numbers of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64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4DF9-F771-1477-FCBB-1DB4A2D3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872F8-D3FB-C235-C14C-D13FBA422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973668"/>
            <a:ext cx="10145486" cy="550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02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365F-BBCB-63EF-431B-8D16BA85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EE6368-9E21-48B5-ADBF-346405711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login/registration to identify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Chat: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one-to-one conversations.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 History: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chat logs in a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Typing Indicators: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when another user is typing.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Sharing and Emojis: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the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Redesign: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themes, message bubbles, and timestamps.</a:t>
            </a:r>
          </a:p>
        </p:txBody>
      </p:sp>
    </p:spTree>
    <p:extLst>
      <p:ext uri="{BB962C8B-B14F-4D97-AF65-F5344CB8AC3E}">
        <p14:creationId xmlns:p14="http://schemas.microsoft.com/office/powerpoint/2010/main" val="356316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3511-3992-C33B-31EA-D0069F88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890C-3125-07D4-9BC0-69F952C1D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Testing Approach:</a:t>
            </a:r>
            <a:endParaRPr lang="en-US" dirty="0"/>
          </a:p>
          <a:p>
            <a:r>
              <a:rPr lang="en-US" dirty="0"/>
              <a:t>Verified simultaneous messaging from multiple browsers.</a:t>
            </a:r>
          </a:p>
          <a:p>
            <a:r>
              <a:rPr lang="en-US" dirty="0"/>
              <a:t>Checked latency between message send and receive.</a:t>
            </a:r>
          </a:p>
          <a:p>
            <a:r>
              <a:rPr lang="en-US" dirty="0"/>
              <a:t>Validated connection recovery after server restart.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r>
              <a:rPr lang="en-US" b="1" dirty="0"/>
              <a:t>Latency:</a:t>
            </a:r>
            <a:r>
              <a:rPr lang="en-US" dirty="0"/>
              <a:t> Less than 1 second between message send and receive.</a:t>
            </a:r>
          </a:p>
          <a:p>
            <a:r>
              <a:rPr lang="en-US" b="1" dirty="0"/>
              <a:t>Connection stability:</a:t>
            </a:r>
            <a:r>
              <a:rPr lang="en-US" dirty="0"/>
              <a:t> Persistent WebSocket connection throughout.</a:t>
            </a:r>
          </a:p>
          <a:p>
            <a:r>
              <a:rPr lang="en-US" b="1" dirty="0"/>
              <a:t>Performance:</a:t>
            </a:r>
            <a:r>
              <a:rPr lang="en-US" dirty="0"/>
              <a:t> Smooth message exchange with multiple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124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1B9D8-D7AA-79E1-3A45-02CB1665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331E8-52EA-4B07-96F8-A47126F68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demonstrates the </a:t>
            </a:r>
            <a:r>
              <a:rPr lang="en-US" b="1" dirty="0"/>
              <a:t>power of </a:t>
            </a:r>
            <a:r>
              <a:rPr lang="en-US" b="1" dirty="0" err="1"/>
              <a:t>WebSockets</a:t>
            </a:r>
            <a:r>
              <a:rPr lang="en-US" dirty="0"/>
              <a:t> for modern web communication.</a:t>
            </a:r>
          </a:p>
          <a:p>
            <a:r>
              <a:rPr lang="en-US" dirty="0"/>
              <a:t>It eliminates the need for continuous polling and improves </a:t>
            </a:r>
            <a:r>
              <a:rPr lang="en-US" b="1" dirty="0"/>
              <a:t>efficiency and speed</a:t>
            </a:r>
            <a:r>
              <a:rPr lang="en-US" dirty="0"/>
              <a:t>.</a:t>
            </a:r>
          </a:p>
          <a:p>
            <a:r>
              <a:rPr lang="en-US" dirty="0"/>
              <a:t>With a </a:t>
            </a:r>
            <a:r>
              <a:rPr lang="en-US" b="1" dirty="0"/>
              <a:t>React frontend</a:t>
            </a:r>
            <a:r>
              <a:rPr lang="en-US" dirty="0"/>
              <a:t> and </a:t>
            </a:r>
            <a:r>
              <a:rPr lang="en-US" b="1" dirty="0"/>
              <a:t>Spring Boot backend</a:t>
            </a:r>
            <a:r>
              <a:rPr lang="en-US" dirty="0"/>
              <a:t>, this architecture provides a strong foundation for scalable chat systems.</a:t>
            </a:r>
          </a:p>
          <a:p>
            <a:r>
              <a:rPr lang="en-US" dirty="0"/>
              <a:t>The system can be easily extended to real-world applications such as customer support, group chats, or team collaboration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90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2718-2B25-714D-DF88-F49D407A2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/>
              <a:t>THANK YOU</a:t>
            </a:r>
            <a:br>
              <a:rPr lang="en-IN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3C851-AAE3-3C64-3A2B-D2A8CD3FA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05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</TotalTime>
  <Words>694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Real-Time Web Chat Application</vt:lpstr>
      <vt:lpstr>Introduction</vt:lpstr>
      <vt:lpstr>Technologies Used</vt:lpstr>
      <vt:lpstr>Problem Statement</vt:lpstr>
      <vt:lpstr>System Architecture</vt:lpstr>
      <vt:lpstr>Components Overview</vt:lpstr>
      <vt:lpstr>Interface &amp; Demonstration</vt:lpstr>
      <vt:lpstr>PowerPoint Presentation</vt:lpstr>
      <vt:lpstr>Features</vt:lpstr>
      <vt:lpstr>PowerPoint Presentation</vt:lpstr>
      <vt:lpstr>Future Enhancements</vt:lpstr>
      <vt:lpstr>Testing &amp; Results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Akhila Marapalli</dc:creator>
  <cp:lastModifiedBy>Akhila Marapalli</cp:lastModifiedBy>
  <cp:revision>1</cp:revision>
  <dcterms:created xsi:type="dcterms:W3CDTF">2025-10-23T13:57:29Z</dcterms:created>
  <dcterms:modified xsi:type="dcterms:W3CDTF">2025-10-23T14:10:06Z</dcterms:modified>
</cp:coreProperties>
</file>